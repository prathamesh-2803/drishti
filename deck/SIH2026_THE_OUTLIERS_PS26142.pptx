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Garamond-regular.fntdata"/><Relationship Id="rId13" Type="http://schemas.openxmlformats.org/officeDocument/2006/relationships/font" Target="fonts/Garamond-bold.fntdata"/><Relationship Id="rId14" Type="http://schemas.openxmlformats.org/officeDocument/2006/relationships/font" Target="fonts/Garamond-italic.fntdata"/><Relationship Id="rId15" Type="http://schemas.openxmlformats.org/officeDocument/2006/relationships/font" Target="fonts/Garamond-boldItalic.fntdata"/><Relationship Id="rId16" Type="http://schemas.openxmlformats.org/officeDocument/2006/relationships/font" Target="fonts/Oswald-regular.fntdata"/><Relationship Id="rId17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4" name="Google Shape;3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54" name="Google Shape;4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27" name="Google Shape;5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4.png"/><Relationship Id="rId9" Type="http://schemas.openxmlformats.org/officeDocument/2006/relationships/image" Target="../media/image16.png"/><Relationship Id="rId10" Type="http://schemas.openxmlformats.org/officeDocument/2006/relationships/image" Target="../media/image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36.png"/><Relationship Id="rId9" Type="http://schemas.openxmlformats.org/officeDocument/2006/relationships/image" Target="../media/image22.png"/><Relationship Id="rId10" Type="http://schemas.openxmlformats.org/officeDocument/2006/relationships/image" Target="../media/image15.png"/><Relationship Id="rId11" Type="http://schemas.openxmlformats.org/officeDocument/2006/relationships/image" Target="../media/image10.png"/><Relationship Id="rId12" Type="http://schemas.openxmlformats.org/officeDocument/2006/relationships/image" Target="../media/image12.png"/><Relationship Id="rId13" Type="http://schemas.openxmlformats.org/officeDocument/2006/relationships/image" Target="../media/image14.png"/><Relationship Id="rId14" Type="http://schemas.openxmlformats.org/officeDocument/2006/relationships/image" Target="../media/image20.png"/><Relationship Id="rId15" Type="http://schemas.openxmlformats.org/officeDocument/2006/relationships/image" Target="../media/image18.png"/><Relationship Id="rId16" Type="http://schemas.openxmlformats.org/officeDocument/2006/relationships/image" Target="../media/image7.png"/><Relationship Id="rId17" Type="http://schemas.openxmlformats.org/officeDocument/2006/relationships/image" Target="../media/image25.png"/><Relationship Id="rId18" Type="http://schemas.openxmlformats.org/officeDocument/2006/relationships/image" Target="../media/image19.png"/><Relationship Id="rId19" Type="http://schemas.openxmlformats.org/officeDocument/2006/relationships/image" Target="../media/image21.png"/><Relationship Id="rId20" Type="http://schemas.openxmlformats.org/officeDocument/2006/relationships/image" Target="../media/image28.png"/><Relationship Id="rId21" Type="http://schemas.openxmlformats.org/officeDocument/2006/relationships/image" Target="../media/image30.png"/><Relationship Id="rId22" Type="http://schemas.openxmlformats.org/officeDocument/2006/relationships/image" Target="../media/image29.png"/><Relationship Id="rId23" Type="http://schemas.openxmlformats.org/officeDocument/2006/relationships/image" Target="../media/image32.png"/><Relationship Id="rId24" Type="http://schemas.openxmlformats.org/officeDocument/2006/relationships/image" Target="../media/image35.png"/><Relationship Id="rId25" Type="http://schemas.openxmlformats.org/officeDocument/2006/relationships/image" Target="../media/image4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Relationship Id="rId6" Type="http://schemas.openxmlformats.org/officeDocument/2006/relationships/image" Target="../media/image55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27.png"/><Relationship Id="rId10" Type="http://schemas.openxmlformats.org/officeDocument/2006/relationships/image" Target="../media/image26.png"/><Relationship Id="rId11" Type="http://schemas.openxmlformats.org/officeDocument/2006/relationships/image" Target="../media/image39.png"/><Relationship Id="rId12" Type="http://schemas.openxmlformats.org/officeDocument/2006/relationships/image" Target="../media/image53.png"/><Relationship Id="rId13" Type="http://schemas.openxmlformats.org/officeDocument/2006/relationships/image" Target="../media/image46.png"/><Relationship Id="rId14" Type="http://schemas.openxmlformats.org/officeDocument/2006/relationships/image" Target="../media/image31.png"/><Relationship Id="rId15" Type="http://schemas.openxmlformats.org/officeDocument/2006/relationships/image" Target="../media/image40.png"/><Relationship Id="rId16" Type="http://schemas.openxmlformats.org/officeDocument/2006/relationships/image" Target="../media/image38.png"/><Relationship Id="rId17" Type="http://schemas.openxmlformats.org/officeDocument/2006/relationships/image" Target="../media/image4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Relationship Id="rId6" Type="http://schemas.openxmlformats.org/officeDocument/2006/relationships/image" Target="../media/image50.png"/><Relationship Id="rId7" Type="http://schemas.openxmlformats.org/officeDocument/2006/relationships/image" Target="../media/image25.png"/><Relationship Id="rId8" Type="http://schemas.openxmlformats.org/officeDocument/2006/relationships/image" Target="../media/image54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52.png"/><Relationship Id="rId12" Type="http://schemas.openxmlformats.org/officeDocument/2006/relationships/image" Target="../media/image5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41.png"/><Relationship Id="rId7" Type="http://schemas.openxmlformats.org/officeDocument/2006/relationships/image" Target="../media/image4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 26142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–  Deep Learning Based Super Resolution Mapping (SRM) from Medium Resolution Satellite Imageries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–  Space Technology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–  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–  &lt;to be filled&gt;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–  THE OUTLIERS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1691640" y="0"/>
            <a:ext cx="795527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DRISHTI  –  Sentinel-2 at 2.5 m, Every Guess Flagged</a:t>
            </a:r>
            <a:endParaRPr/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1155680" y="6382512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02" name="Google Shape;102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OUTLIERS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lit.png" id="104" name="Google Shape;10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1480" y="1152144"/>
            <a:ext cx="7589520" cy="29617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ets.png" id="105" name="Google Shape;105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11480" y="4187952"/>
            <a:ext cx="7589520" cy="16012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11480" y="5870448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drag the divider   ·   same ground, 16x the pixels   ·   amber = the model was guessing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8321040" y="1152144"/>
            <a:ext cx="3456432" cy="133502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8522208" y="1335024"/>
            <a:ext cx="457200" cy="457200"/>
          </a:xfrm>
          <a:prstGeom prst="ellipse">
            <a:avLst/>
          </a:prstGeom>
          <a:solidFill>
            <a:srgbClr val="0E6E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osshair_w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0788" y="140360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9089136" y="135331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INDIA-TUNED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89136" y="1609344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trained on Indian ground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522208" y="1956816"/>
            <a:ext cx="30540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Others learn from US farms and European suburbs.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0040112" y="2505456"/>
            <a:ext cx="18288" cy="64007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 rot="10800000">
            <a:off x="9980676" y="255117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321040" y="2670048"/>
            <a:ext cx="3456432" cy="1335024"/>
          </a:xfrm>
          <a:prstGeom prst="roundRect">
            <a:avLst>
              <a:gd fmla="val 16667" name="adj"/>
            </a:avLst>
          </a:prstGeom>
          <a:solidFill>
            <a:srgbClr val="FAF0E2"/>
          </a:solidFill>
          <a:ln cap="flat" cmpd="sng" w="12700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8522208" y="2852928"/>
            <a:ext cx="457200" cy="457200"/>
          </a:xfrm>
          <a:prstGeom prst="ellipse">
            <a:avLst/>
          </a:prstGeom>
          <a:solidFill>
            <a:srgbClr val="B5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rn_w.png"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0788" y="29215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9089136" y="2871216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GUESSES FLAGGED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089136" y="3127248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confidence map with every image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522208" y="3474720"/>
            <a:ext cx="30540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It may rearrange detail inside a pixel, never invent brightness.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10040112" y="4023360"/>
            <a:ext cx="18288" cy="64007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 rot="10800000">
            <a:off x="9980676" y="406908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8321040" y="4187952"/>
            <a:ext cx="3456432" cy="133502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8522208" y="4370832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ler_w.png" id="125" name="Google Shape;12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0788" y="44394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9089136" y="438912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STILL MEASURABLE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089136" y="4645152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crop health still computable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8522208" y="4992624"/>
            <a:ext cx="30540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Colour is preserved, so the output stays science.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8321040" y="5687568"/>
            <a:ext cx="3456432" cy="566928"/>
          </a:xfrm>
          <a:prstGeom prst="roundRect">
            <a:avLst>
              <a:gd fmla="val 16667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_w.png" id="130" name="Google Shape;13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7072" y="581558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/>
        </p:nvSpPr>
        <p:spPr>
          <a:xfrm>
            <a:off x="8814816" y="582472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GeoTIFF</a:t>
            </a:r>
            <a:endParaRPr/>
          </a:p>
        </p:txBody>
      </p:sp>
      <p:pic>
        <p:nvPicPr>
          <p:cNvPr descr="warn_w.png" id="132" name="Google Shape;13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20072" y="581558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/>
        </p:nvSpPr>
        <p:spPr>
          <a:xfrm>
            <a:off x="9957816" y="582472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/>
          </a:p>
        </p:txBody>
      </p:sp>
      <p:pic>
        <p:nvPicPr>
          <p:cNvPr descr="check_w.png" id="134" name="Google Shape;13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63072" y="5815584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11100816" y="582472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11155680" y="6382512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43" name="Google Shape;143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OUTLIERS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411480" y="1133856"/>
            <a:ext cx="1371600" cy="82296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osshair_navy.png" id="146" name="Google Shape;14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408" y="1207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448056" y="1481328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AOI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448056" y="167335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user draws a box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1801368" y="1536192"/>
            <a:ext cx="64007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 rot="5400000">
            <a:off x="1847087" y="147675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1965960" y="1133856"/>
            <a:ext cx="1371600" cy="82296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atellite_navy.png" id="152" name="Google Shape;15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2888" y="1207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2002536" y="1481328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2002536" y="167335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newest clear pass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3355848" y="1536192"/>
            <a:ext cx="64007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 rot="5400000">
            <a:off x="3401568" y="147675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3520439" y="1133856"/>
            <a:ext cx="1371600" cy="82296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ud_navy.png" id="158" name="Google Shape;15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87368" y="1207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3557015" y="1481328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3557015" y="167335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scene cloud &lt; 5%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910327" y="1536192"/>
            <a:ext cx="64007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 rot="5400000">
            <a:off x="4956047" y="147675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074920" y="1133856"/>
            <a:ext cx="1371600" cy="82296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yers_navy.png" id="164" name="Google Shape;16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41848" y="1207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5111496" y="1481328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PREP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5111496" y="167335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stack · normalise · reproject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6464808" y="1536192"/>
            <a:ext cx="64007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 rot="5400000">
            <a:off x="6510528" y="147675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629400" y="1133856"/>
            <a:ext cx="1371600" cy="82296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id_navy.png" id="170" name="Google Shape;17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6328" y="12070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 txBox="1"/>
          <p:nvPr/>
        </p:nvSpPr>
        <p:spPr>
          <a:xfrm>
            <a:off x="6665976" y="1481328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TILE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6665976" y="167335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128 x 128, 16 px overlap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411480" y="2212848"/>
            <a:ext cx="7589400" cy="2176200"/>
          </a:xfrm>
          <a:prstGeom prst="roundRect">
            <a:avLst>
              <a:gd fmla="val 16667" name="adj"/>
            </a:avLst>
          </a:prstGeom>
          <a:solidFill>
            <a:srgbClr val="F7FAFC"/>
          </a:solidFill>
          <a:ln cap="flat" cmpd="sng" w="15875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4754880" y="226771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HYBRID SR NETWORK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7306056" y="1956816"/>
            <a:ext cx="18288" cy="10972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1033271" y="2057400"/>
            <a:ext cx="6281928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1024127" y="2066543"/>
            <a:ext cx="18288" cy="950975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 rot="10800000">
            <a:off x="964692" y="2999231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640080" y="3118104"/>
            <a:ext cx="786384" cy="640080"/>
          </a:xfrm>
          <a:prstGeom prst="roundRect">
            <a:avLst>
              <a:gd fmla="val 16667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640080" y="3255264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TILE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640080" y="3447288"/>
            <a:ext cx="786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C8D4E2"/>
                </a:solidFill>
                <a:latin typeface="Calibri"/>
                <a:ea typeface="Calibri"/>
                <a:cs typeface="Calibri"/>
                <a:sym typeface="Calibri"/>
              </a:rPr>
              <a:t>128²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1426464" y="3429000"/>
            <a:ext cx="146304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1563624" y="2999232"/>
            <a:ext cx="18288" cy="877824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1572768" y="2990088"/>
            <a:ext cx="173736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 rot="5400000">
            <a:off x="1728216" y="2930651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572768" y="3867912"/>
            <a:ext cx="173736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 rot="5400000">
            <a:off x="1728216" y="380847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1847088" y="2596896"/>
            <a:ext cx="237744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debranch_teal.png" id="189" name="Google Shape;18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75104" y="26883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 txBox="1"/>
          <p:nvPr/>
        </p:nvSpPr>
        <p:spPr>
          <a:xfrm>
            <a:off x="2249424" y="26700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CNN BRANCH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2002525" y="3099753"/>
            <a:ext cx="914400" cy="219600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2002525" y="3127186"/>
            <a:ext cx="91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1" i="0" lang="en-US" sz="8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~35 dB</a:t>
            </a:r>
            <a:r>
              <a:rPr b="1" lang="en-US" sz="8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1" i="0" lang="en-US" sz="8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1975104" y="2926079"/>
            <a:ext cx="21030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EDSR </a:t>
            </a:r>
            <a:r>
              <a:rPr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RCAN  ·  crisp, faithful edges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1847088" y="3474720"/>
            <a:ext cx="2377440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ain_navy.png" id="195" name="Google Shape;19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75104" y="35661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/>
          <p:nvPr/>
        </p:nvSpPr>
        <p:spPr>
          <a:xfrm>
            <a:off x="2249424" y="3547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SWIN BRANCH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2002525" y="3977565"/>
            <a:ext cx="914400" cy="219600"/>
          </a:xfrm>
          <a:prstGeom prst="roundRect">
            <a:avLst>
              <a:gd fmla="val 16667" name="adj"/>
            </a:avLst>
          </a:prstGeom>
          <a:solidFill>
            <a:srgbClr val="E4EAF2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2002525" y="4004998"/>
            <a:ext cx="91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1" lang="en-US" sz="8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~35 dB</a:t>
            </a:r>
            <a:r>
              <a:rPr b="1" i="0" lang="en-US" sz="8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1975104" y="380390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SwinIR  ·  reads the wider neighbourhood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4224528" y="2990088"/>
            <a:ext cx="173736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 rot="5400000">
            <a:off x="4379976" y="2930651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4224528" y="3867912"/>
            <a:ext cx="173736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 rot="5400000">
            <a:off x="4379976" y="380847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489720" y="2654048"/>
            <a:ext cx="18300" cy="12231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498848" y="2667000"/>
            <a:ext cx="173700" cy="183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 rot="5400000">
            <a:off x="4590356" y="2624326"/>
            <a:ext cx="137100" cy="13710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4773168" y="2352304"/>
            <a:ext cx="822900" cy="640200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5875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xes_teal.png" id="208" name="Google Shape;20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74920" y="24071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 txBox="1"/>
          <p:nvPr/>
        </p:nvSpPr>
        <p:spPr>
          <a:xfrm>
            <a:off x="4773168" y="2654056"/>
            <a:ext cx="822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FUSE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4773168" y="2818648"/>
            <a:ext cx="822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×4  ·  35.7 dB</a:t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 flipH="1" rot="-5428992">
            <a:off x="4945989" y="3235374"/>
            <a:ext cx="498018" cy="219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 rot="10800000">
            <a:off x="5138972" y="3480473"/>
            <a:ext cx="137100" cy="13710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6190508" y="3620954"/>
            <a:ext cx="1051500" cy="640200"/>
          </a:xfrm>
          <a:prstGeom prst="roundRect">
            <a:avLst>
              <a:gd fmla="val 16667" name="adj"/>
            </a:avLst>
          </a:prstGeom>
          <a:solidFill>
            <a:srgbClr val="FAF0E2"/>
          </a:solidFill>
          <a:ln cap="flat" cmpd="sng" w="15875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ck_amb.png" id="214" name="Google Shape;21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11133" y="367581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5"/>
          <p:cNvSpPr txBox="1"/>
          <p:nvPr/>
        </p:nvSpPr>
        <p:spPr>
          <a:xfrm>
            <a:off x="6190508" y="3922706"/>
            <a:ext cx="105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CONSTRAIN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6190508" y="4090911"/>
            <a:ext cx="10515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averages back exactly</a:t>
            </a: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5588101" y="2697448"/>
            <a:ext cx="1158000" cy="114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 rot="10800000">
            <a:off x="6673149" y="3474748"/>
            <a:ext cx="137100" cy="13710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4868049" y="3643279"/>
            <a:ext cx="658500" cy="640200"/>
          </a:xfrm>
          <a:prstGeom prst="roundRect">
            <a:avLst>
              <a:gd fmla="val 16667" name="adj"/>
            </a:avLst>
          </a:prstGeom>
          <a:solidFill>
            <a:srgbClr val="0E6E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4868049" y="3798727"/>
            <a:ext cx="658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512²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4868049" y="3990751"/>
            <a:ext cx="658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C6E6E2"/>
                </a:solidFill>
                <a:latin typeface="Calibri"/>
                <a:ea typeface="Calibri"/>
                <a:cs typeface="Calibri"/>
                <a:sym typeface="Calibri"/>
              </a:rPr>
              <a:t>2.5 m</a:t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 flipH="1" rot="10800000">
            <a:off x="2331725" y="4491570"/>
            <a:ext cx="2867700" cy="102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2322576" y="4480560"/>
            <a:ext cx="18288" cy="82296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 rot="10800000">
            <a:off x="2263139" y="454456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 flipH="1">
            <a:off x="6684258" y="4288509"/>
            <a:ext cx="13500" cy="2742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 rot="10800000">
            <a:off x="6606540" y="454456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11480" y="4663440"/>
            <a:ext cx="5074920" cy="676656"/>
          </a:xfrm>
          <a:prstGeom prst="roundRect">
            <a:avLst>
              <a:gd fmla="val 16667" name="adj"/>
            </a:avLst>
          </a:prstGeom>
          <a:solidFill>
            <a:srgbClr val="E8F2F1"/>
          </a:solidFill>
          <a:ln cap="flat" cmpd="sng" w="1905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ale_teal.png" id="228" name="Google Shape;228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6928" y="47548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5"/>
          <p:cNvSpPr txBox="1"/>
          <p:nvPr/>
        </p:nvSpPr>
        <p:spPr>
          <a:xfrm>
            <a:off x="859536" y="4727448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b="1" i="0" lang="en-US" sz="10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 CHECK  —  every tile, before stitching</a:t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566928" y="4992624"/>
            <a:ext cx="1097280" cy="23774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566928" y="50292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1737360" y="4992624"/>
            <a:ext cx="1097280" cy="23774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1737360" y="50292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colour · SAM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2907792" y="4992624"/>
            <a:ext cx="1097280" cy="23774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2907792" y="50292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4078224" y="4992624"/>
            <a:ext cx="1097280" cy="237744"/>
          </a:xfrm>
          <a:prstGeom prst="roundRect">
            <a:avLst>
              <a:gd fmla="val 16667" name="adj"/>
            </a:avLst>
          </a:prstGeom>
          <a:solidFill>
            <a:srgbClr val="FAF0E2"/>
          </a:solidFill>
          <a:ln cap="flat" cmpd="sng" w="12700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4078224" y="5029200"/>
            <a:ext cx="1097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1" lang="en-US" sz="75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all 3 must pass</a:t>
            </a:r>
            <a:r>
              <a:rPr b="1" i="0" lang="en-US" sz="75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859536" y="4489704"/>
            <a:ext cx="18288" cy="173736"/>
          </a:xfrm>
          <a:prstGeom prst="rect">
            <a:avLst/>
          </a:prstGeom>
          <a:solidFill>
            <a:srgbClr val="9B25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800100" y="4370831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B25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1005840" y="44074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fail → flag &amp; fall back</a:t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5669280" y="4663440"/>
            <a:ext cx="2331720" cy="676656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 cap="flat" cmpd="sng" w="12700">
            <a:solidFill>
              <a:srgbClr val="9B2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rn_crim.png" id="242" name="Google Shape;24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833872" y="47731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 txBox="1"/>
          <p:nvPr/>
        </p:nvSpPr>
        <p:spPr>
          <a:xfrm>
            <a:off x="6126480" y="474573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N passes → variance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5833872" y="5010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where the passes disagree = a guess</a:t>
            </a: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1600200" y="5340096"/>
            <a:ext cx="18288" cy="27432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 rot="10800000">
            <a:off x="1540764" y="534924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6793992" y="5340096"/>
            <a:ext cx="18288" cy="27432"/>
          </a:xfrm>
          <a:prstGeom prst="rect">
            <a:avLst/>
          </a:prstGeom>
          <a:solidFill>
            <a:srgbClr val="9B25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 rot="10800000">
            <a:off x="6734556" y="534924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B25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411480" y="5468112"/>
            <a:ext cx="2395728" cy="658368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uzzle_navy.png" id="250" name="Google Shape;250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6072" y="56144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5"/>
          <p:cNvSpPr txBox="1"/>
          <p:nvPr/>
        </p:nvSpPr>
        <p:spPr>
          <a:xfrm>
            <a:off x="886968" y="55412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STITCH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886968" y="57515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feathered, no seams</a:t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3008376" y="5468112"/>
            <a:ext cx="2395728" cy="658368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_teal.png" id="254" name="Google Shape;254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172968" y="56144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3483864" y="55412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GeoTIFF 2.5 m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3483864" y="57515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opens in QGIS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5605272" y="5468112"/>
            <a:ext cx="2395728" cy="658368"/>
          </a:xfrm>
          <a:prstGeom prst="roundRect">
            <a:avLst>
              <a:gd fmla="val 16667" name="adj"/>
            </a:avLst>
          </a:prstGeom>
          <a:solidFill>
            <a:srgbClr val="FAF0E2"/>
          </a:solidFill>
          <a:ln cap="flat" cmpd="sng" w="12700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rn_amb.png" id="258" name="Google Shape;258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69864" y="56144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5"/>
          <p:cNvSpPr txBox="1"/>
          <p:nvPr/>
        </p:nvSpPr>
        <p:spPr>
          <a:xfrm>
            <a:off x="6080760" y="55412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CONFIDENCE MAP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6080760" y="57515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amber = inferred</a:t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2825496" y="5788152"/>
            <a:ext cx="82296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 rot="5400000">
            <a:off x="2889503" y="572871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8275320" y="1133856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HOW IT LEARNS   ·   Wald's protocol</a:t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8275320" y="1389888"/>
            <a:ext cx="3502152" cy="3017520"/>
          </a:xfrm>
          <a:prstGeom prst="roundRect">
            <a:avLst>
              <a:gd fmla="val 16667" name="adj"/>
            </a:avLst>
          </a:prstGeom>
          <a:solidFill>
            <a:srgbClr val="F7FAFC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8732520" y="1554480"/>
            <a:ext cx="283464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_navy.png" id="266" name="Google Shape;266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878824" y="17099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5"/>
          <p:cNvSpPr txBox="1"/>
          <p:nvPr/>
        </p:nvSpPr>
        <p:spPr>
          <a:xfrm>
            <a:off x="9208008" y="1609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PAIRS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9208008" y="18288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real 10 m, degraded to 40 m</a:t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10140696" y="2130552"/>
            <a:ext cx="18288" cy="27432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 rot="10800000">
            <a:off x="10081260" y="213969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8732520" y="2267712"/>
            <a:ext cx="283464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ip_teal.png" id="272" name="Google Shape;272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878824" y="24231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 txBox="1"/>
          <p:nvPr/>
        </p:nvSpPr>
        <p:spPr>
          <a:xfrm>
            <a:off x="9208008" y="23225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9208008" y="25420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rebuilds the 10 m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10140696" y="2843784"/>
            <a:ext cx="18288" cy="27432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 rot="10800000">
            <a:off x="10081260" y="2852927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8732520" y="2980944"/>
            <a:ext cx="283464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9B2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ale_crim.png" id="278" name="Google Shape;278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878824" y="3136391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5"/>
          <p:cNvSpPr txBox="1"/>
          <p:nvPr/>
        </p:nvSpPr>
        <p:spPr>
          <a:xfrm>
            <a:off x="9208008" y="30358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9208008" y="3255263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against the real 10 m</a:t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10140696" y="3557015"/>
            <a:ext cx="18288" cy="27432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 rot="10800000">
            <a:off x="10081260" y="3566159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8732520" y="3694176"/>
            <a:ext cx="283464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auge_amb.png" id="284" name="Google Shape;284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878824" y="38496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9208008" y="374903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9208008" y="39684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nudge the weights</a:t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8540496" y="1810512"/>
            <a:ext cx="18288" cy="2395728"/>
          </a:xfrm>
          <a:prstGeom prst="rect">
            <a:avLst/>
          </a:prstGeom>
          <a:solidFill>
            <a:srgbClr val="B5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8549640" y="4197096"/>
            <a:ext cx="201168" cy="18288"/>
          </a:xfrm>
          <a:prstGeom prst="rect">
            <a:avLst/>
          </a:prstGeom>
          <a:solidFill>
            <a:srgbClr val="B5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8549640" y="1828799"/>
            <a:ext cx="201168" cy="18288"/>
          </a:xfrm>
          <a:prstGeom prst="rect">
            <a:avLst/>
          </a:prstGeom>
          <a:solidFill>
            <a:srgbClr val="B5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 rot="5400000">
            <a:off x="8686800" y="1773935"/>
            <a:ext cx="128016" cy="128016"/>
          </a:xfrm>
          <a:prstGeom prst="triangle">
            <a:avLst>
              <a:gd fmla="val 50000" name="adj"/>
            </a:avLst>
          </a:prstGeom>
          <a:solidFill>
            <a:srgbClr val="B5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8275320" y="4553712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BUILT WITH</a:t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8275320" y="4773168"/>
            <a:ext cx="1709928" cy="34747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ython_navy.png" id="293" name="Google Shape;293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385048" y="4855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 txBox="1"/>
          <p:nvPr/>
        </p:nvSpPr>
        <p:spPr>
          <a:xfrm>
            <a:off x="8641080" y="48463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10067544" y="4773168"/>
            <a:ext cx="1709928" cy="34747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ain_navy.png" id="296" name="Google Shape;29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77272" y="4855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 txBox="1"/>
          <p:nvPr/>
        </p:nvSpPr>
        <p:spPr>
          <a:xfrm>
            <a:off x="10433304" y="484632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8275320" y="5193792"/>
            <a:ext cx="1709928" cy="34747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atellite_navy.png" id="299" name="Google Shape;2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5048" y="52760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5"/>
          <p:cNvSpPr txBox="1"/>
          <p:nvPr/>
        </p:nvSpPr>
        <p:spPr>
          <a:xfrm>
            <a:off x="8641080" y="5266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Sentinel-2</a:t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10067544" y="5193792"/>
            <a:ext cx="1709928" cy="34747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p_navy.png" id="302" name="Google Shape;302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0177272" y="52760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 txBox="1"/>
          <p:nvPr/>
        </p:nvSpPr>
        <p:spPr>
          <a:xfrm>
            <a:off x="10433304" y="5266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QGIS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8275320" y="5614416"/>
            <a:ext cx="1709928" cy="34747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act_navy.png" id="305" name="Google Shape;305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385048" y="56967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/>
          <p:nvPr/>
        </p:nvSpPr>
        <p:spPr>
          <a:xfrm>
            <a:off x="8641080" y="56875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Web viewer</a:t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10067544" y="5614416"/>
            <a:ext cx="1709928" cy="34747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ker_navy.png" id="308" name="Google Shape;308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0177272" y="56967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5"/>
          <p:cNvSpPr txBox="1"/>
          <p:nvPr/>
        </p:nvSpPr>
        <p:spPr>
          <a:xfrm>
            <a:off x="10433304" y="56875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 flipH="1" rot="-5400000">
            <a:off x="6340652" y="3096950"/>
            <a:ext cx="807000" cy="135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 flipH="1" rot="-5400000">
            <a:off x="5099247" y="4382625"/>
            <a:ext cx="245400" cy="42300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318" name="Google Shape;318;p16"/>
          <p:cNvSpPr txBox="1"/>
          <p:nvPr>
            <p:ph idx="12" type="sldNum"/>
          </p:nvPr>
        </p:nvSpPr>
        <p:spPr>
          <a:xfrm>
            <a:off x="11155680" y="6382512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319" name="Google Shape;319;p1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OUTLIERS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6"/>
          <p:cNvSpPr/>
          <p:nvPr/>
        </p:nvSpPr>
        <p:spPr>
          <a:xfrm>
            <a:off x="411480" y="1133856"/>
            <a:ext cx="2761488" cy="71323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pee_teal.png" id="322" name="Google Shape;3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12984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6"/>
          <p:cNvSpPr txBox="1"/>
          <p:nvPr/>
        </p:nvSpPr>
        <p:spPr>
          <a:xfrm>
            <a:off x="1014984" y="1243584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₹0 INPUT DATA</a:t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1014984" y="14813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free imagery, forever</a:t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3342132" y="1133856"/>
            <a:ext cx="2761488" cy="71323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n_navy.png" id="326" name="Google Shape;3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5012" y="12984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6"/>
          <p:cNvSpPr txBox="1"/>
          <p:nvPr/>
        </p:nvSpPr>
        <p:spPr>
          <a:xfrm>
            <a:off x="3945636" y="1243584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NO LICENCE FEE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3945636" y="14813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no tasking, no per-km² bill</a:t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6272784" y="1133856"/>
            <a:ext cx="2761488" cy="71323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pu_navy.png" id="330" name="Google Shape;3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5664" y="12984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6"/>
          <p:cNvSpPr txBox="1"/>
          <p:nvPr/>
        </p:nvSpPr>
        <p:spPr>
          <a:xfrm>
            <a:off x="6876288" y="1243584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RUNS OFFLINE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6876288" y="14813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 laptop GPU, no cloud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9203436" y="1133856"/>
            <a:ext cx="2761488" cy="713232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lag_teal.png" id="334" name="Google Shape;3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86316" y="12984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6"/>
          <p:cNvSpPr txBox="1"/>
          <p:nvPr/>
        </p:nvSpPr>
        <p:spPr>
          <a:xfrm>
            <a:off x="9806940" y="1243584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INDIAN SERVERS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9806940" y="14813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open data, our own machines</a:t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868680" y="3044952"/>
            <a:ext cx="10561320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 rot="5400000">
            <a:off x="11384280" y="2962656"/>
            <a:ext cx="182880" cy="18288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11480" y="2103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50292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502920" y="234086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WORKING BASELINE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502920" y="25603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an open pretrained model running on our own area</a:t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1751076" y="2852928"/>
            <a:ext cx="18288" cy="20116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1659636" y="2953512"/>
            <a:ext cx="201168" cy="20116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751076" y="3154680"/>
            <a:ext cx="18288" cy="173736"/>
          </a:xfrm>
          <a:prstGeom prst="rect">
            <a:avLst/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 rot="10800000">
            <a:off x="1691640" y="3310127"/>
            <a:ext cx="137160" cy="137160"/>
          </a:xfrm>
          <a:prstGeom prst="triangle">
            <a:avLst>
              <a:gd fmla="val 50000" name="adj"/>
            </a:avLst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411480" y="3456432"/>
            <a:ext cx="2697480" cy="658368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 cap="flat" cmpd="sng" w="12700">
            <a:solidFill>
              <a:srgbClr val="E8C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g_crim.png" id="348" name="Google Shape;3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7784" y="36027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6"/>
          <p:cNvSpPr txBox="1"/>
          <p:nvPr/>
        </p:nvSpPr>
        <p:spPr>
          <a:xfrm>
            <a:off x="886968" y="35844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it invents detail</a:t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1751076" y="4133087"/>
            <a:ext cx="18288" cy="155448"/>
          </a:xfrm>
          <a:prstGeom prst="rect">
            <a:avLst/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 rot="10800000">
            <a:off x="1691640" y="427024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11480" y="4389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ck_teal.png" id="353" name="Google Shape;3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7784" y="45720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6"/>
          <p:cNvSpPr txBox="1"/>
          <p:nvPr/>
        </p:nvSpPr>
        <p:spPr>
          <a:xfrm>
            <a:off x="886968" y="44988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force the output to average back to the real pixel</a:t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3246120" y="2103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333756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/>
          </a:p>
        </p:txBody>
      </p:sp>
      <p:sp>
        <p:nvSpPr>
          <p:cNvPr id="357" name="Google Shape;357;p16"/>
          <p:cNvSpPr txBox="1"/>
          <p:nvPr/>
        </p:nvSpPr>
        <p:spPr>
          <a:xfrm>
            <a:off x="3337560" y="234086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COMPARISON VIEWER</a:t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3337560" y="25603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drag-slider view, so we can judge every result</a:t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4585716" y="2852928"/>
            <a:ext cx="18288" cy="20116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4494276" y="2953512"/>
            <a:ext cx="201168" cy="20116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4585716" y="3154680"/>
            <a:ext cx="18288" cy="173736"/>
          </a:xfrm>
          <a:prstGeom prst="rect">
            <a:avLst/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 rot="10800000">
            <a:off x="4526280" y="3310127"/>
            <a:ext cx="137160" cy="137160"/>
          </a:xfrm>
          <a:prstGeom prst="triangle">
            <a:avLst>
              <a:gd fmla="val 50000" name="adj"/>
            </a:avLst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3246120" y="3456432"/>
            <a:ext cx="2697480" cy="658368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 cap="flat" cmpd="sng" w="12700">
            <a:solidFill>
              <a:srgbClr val="E8C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osshair_crim.png" id="364" name="Google Shape;36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92424" y="36027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6"/>
          <p:cNvSpPr txBox="1"/>
          <p:nvPr/>
        </p:nvSpPr>
        <p:spPr>
          <a:xfrm>
            <a:off x="3721608" y="35844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sensors do not line up</a:t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4585716" y="4133087"/>
            <a:ext cx="18288" cy="155448"/>
          </a:xfrm>
          <a:prstGeom prst="rect">
            <a:avLst/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 rot="10800000">
            <a:off x="4526280" y="427024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3246120" y="4389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arget_teal.png" id="369" name="Google Shape;36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92424" y="45720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 txBox="1"/>
          <p:nvPr/>
        </p:nvSpPr>
        <p:spPr>
          <a:xfrm>
            <a:off x="3721608" y="44988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auto-align every image pair first</a:t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6080760" y="2103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617220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/>
          </a:p>
        </p:txBody>
      </p:sp>
      <p:sp>
        <p:nvSpPr>
          <p:cNvPr id="373" name="Google Shape;373;p16"/>
          <p:cNvSpPr txBox="1"/>
          <p:nvPr/>
        </p:nvSpPr>
        <p:spPr>
          <a:xfrm>
            <a:off x="6172200" y="234086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INDIA-TUNED MODEL</a:t>
            </a: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6172200" y="25603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trained on 12 Indian Sentinel-2 scenes</a:t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7420356" y="2852928"/>
            <a:ext cx="18288" cy="20116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7328916" y="2953512"/>
            <a:ext cx="201168" cy="20116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7420356" y="3154680"/>
            <a:ext cx="18288" cy="173736"/>
          </a:xfrm>
          <a:prstGeom prst="rect">
            <a:avLst/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 rot="10800000">
            <a:off x="7360920" y="3310127"/>
            <a:ext cx="137160" cy="137160"/>
          </a:xfrm>
          <a:prstGeom prst="triangle">
            <a:avLst>
              <a:gd fmla="val 50000" name="adj"/>
            </a:avLst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6080760" y="3456432"/>
            <a:ext cx="2697480" cy="658368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 cap="flat" cmpd="sng" w="12700">
            <a:solidFill>
              <a:srgbClr val="E8C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_crim.png" id="380" name="Google Shape;38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27064" y="36027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6"/>
          <p:cNvSpPr txBox="1"/>
          <p:nvPr/>
        </p:nvSpPr>
        <p:spPr>
          <a:xfrm>
            <a:off x="6556248" y="35844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no 2.5 m truth for India</a:t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7420356" y="4133087"/>
            <a:ext cx="18288" cy="155448"/>
          </a:xfrm>
          <a:prstGeom prst="rect">
            <a:avLst/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 rot="10800000">
            <a:off x="7360920" y="427024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6080760" y="4389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atellite_teal.png" id="385" name="Google Shape;38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27064" y="45720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6"/>
          <p:cNvSpPr txBox="1"/>
          <p:nvPr/>
        </p:nvSpPr>
        <p:spPr>
          <a:xfrm>
            <a:off x="6556248" y="44988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Wald's protocol; LISS-IV next</a:t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8915400" y="2103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9006840" y="2176272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/>
          </a:p>
        </p:txBody>
      </p:sp>
      <p:sp>
        <p:nvSpPr>
          <p:cNvPr id="389" name="Google Shape;389;p16"/>
          <p:cNvSpPr txBox="1"/>
          <p:nvPr/>
        </p:nvSpPr>
        <p:spPr>
          <a:xfrm>
            <a:off x="9006840" y="234086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VALIDATED PRODUCT</a:t>
            </a:r>
            <a:endParaRPr/>
          </a:p>
        </p:txBody>
      </p:sp>
      <p:sp>
        <p:nvSpPr>
          <p:cNvPr id="390" name="Google Shape;390;p16"/>
          <p:cNvSpPr txBox="1"/>
          <p:nvPr/>
        </p:nvSpPr>
        <p:spPr>
          <a:xfrm>
            <a:off x="9006840" y="256032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scored, packaged, runs offline</a:t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10254996" y="2852928"/>
            <a:ext cx="18288" cy="20116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10163556" y="2953512"/>
            <a:ext cx="201168" cy="20116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10254996" y="3154680"/>
            <a:ext cx="18288" cy="173736"/>
          </a:xfrm>
          <a:prstGeom prst="rect">
            <a:avLst/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 rot="10800000">
            <a:off x="10195560" y="3310127"/>
            <a:ext cx="137160" cy="137160"/>
          </a:xfrm>
          <a:prstGeom prst="triangle">
            <a:avLst>
              <a:gd fmla="val 50000" name="adj"/>
            </a:avLst>
          </a:prstGeom>
          <a:solidFill>
            <a:srgbClr val="D8B4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8915400" y="3456432"/>
            <a:ext cx="2697480" cy="658368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 cap="flat" cmpd="sng" w="12700">
            <a:solidFill>
              <a:srgbClr val="E8C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xes_crim.png" id="396" name="Google Shape;396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61704" y="36027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6"/>
          <p:cNvSpPr txBox="1"/>
          <p:nvPr/>
        </p:nvSpPr>
        <p:spPr>
          <a:xfrm>
            <a:off x="9390888" y="35844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16x more pixels to store</a:t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10254996" y="4133087"/>
            <a:ext cx="18288" cy="155448"/>
          </a:xfrm>
          <a:prstGeom prst="rect">
            <a:avLst/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 rot="10800000">
            <a:off x="10195560" y="427024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A8C8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8915400" y="4389120"/>
            <a:ext cx="2697480" cy="749808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lt_teal.png" id="401" name="Google Shape;401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61704" y="45720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6"/>
          <p:cNvSpPr txBox="1"/>
          <p:nvPr/>
        </p:nvSpPr>
        <p:spPr>
          <a:xfrm>
            <a:off x="9390888" y="4498848"/>
            <a:ext cx="2075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only process the area someone asks for</a:t>
            </a:r>
            <a:endParaRPr/>
          </a:p>
        </p:txBody>
      </p:sp>
      <p:sp>
        <p:nvSpPr>
          <p:cNvPr id="403" name="Google Shape;403;p16"/>
          <p:cNvSpPr txBox="1"/>
          <p:nvPr/>
        </p:nvSpPr>
        <p:spPr>
          <a:xfrm>
            <a:off x="411480" y="523036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SO WHY NOT JUST USE SOMETHING ELSE?</a:t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411480" y="5449824"/>
            <a:ext cx="2615184" cy="78638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 txBox="1"/>
          <p:nvPr/>
        </p:nvSpPr>
        <p:spPr>
          <a:xfrm>
            <a:off x="557784" y="5513832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GOOGLE EARTH</a:t>
            </a:r>
            <a:endParaRPr/>
          </a:p>
        </p:txBody>
      </p:sp>
      <p:sp>
        <p:nvSpPr>
          <p:cNvPr id="406" name="Google Shape;406;p16"/>
          <p:cNvSpPr txBox="1"/>
          <p:nvPr/>
        </p:nvSpPr>
        <p:spPr>
          <a:xfrm>
            <a:off x="557784" y="571500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 photo album</a:t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557784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08" name="Google Shape;408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03504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6"/>
          <p:cNvSpPr txBox="1"/>
          <p:nvPr/>
        </p:nvSpPr>
        <p:spPr>
          <a:xfrm>
            <a:off x="777240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SHARP</a:t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1353312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mark_crim.png" id="411" name="Google Shape;411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99032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6"/>
          <p:cNvSpPr txBox="1"/>
          <p:nvPr/>
        </p:nvSpPr>
        <p:spPr>
          <a:xfrm>
            <a:off x="1572768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2148839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mark_crim.png" id="414" name="Google Shape;414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194559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6"/>
          <p:cNvSpPr txBox="1"/>
          <p:nvPr/>
        </p:nvSpPr>
        <p:spPr>
          <a:xfrm>
            <a:off x="2368296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3282696" y="5449824"/>
            <a:ext cx="2615184" cy="78638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3429000" y="5513832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PAID SATELLITE</a:t>
            </a:r>
            <a:endParaRPr/>
          </a:p>
        </p:txBody>
      </p:sp>
      <p:sp>
        <p:nvSpPr>
          <p:cNvPr id="418" name="Google Shape;418;p16"/>
          <p:cNvSpPr txBox="1"/>
          <p:nvPr/>
        </p:nvSpPr>
        <p:spPr>
          <a:xfrm>
            <a:off x="3429000" y="571500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priced per km²</a:t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3429000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20" name="Google Shape;420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474720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"/>
          <p:cNvSpPr txBox="1"/>
          <p:nvPr/>
        </p:nvSpPr>
        <p:spPr>
          <a:xfrm>
            <a:off x="3648456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SHARP</a:t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4224528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23" name="Google Shape;423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270248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6"/>
          <p:cNvSpPr txBox="1"/>
          <p:nvPr/>
        </p:nvSpPr>
        <p:spPr>
          <a:xfrm>
            <a:off x="4443984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5020056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mark_crim.png" id="426" name="Google Shape;426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65776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6"/>
          <p:cNvSpPr txBox="1"/>
          <p:nvPr/>
        </p:nvSpPr>
        <p:spPr>
          <a:xfrm>
            <a:off x="5239512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6153912" y="5449824"/>
            <a:ext cx="2615184" cy="78638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6300216" y="5513832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RAW SENTINEL-2</a:t>
            </a:r>
            <a:endParaRPr/>
          </a:p>
        </p:txBody>
      </p:sp>
      <p:sp>
        <p:nvSpPr>
          <p:cNvPr id="430" name="Google Shape;430;p16"/>
          <p:cNvSpPr txBox="1"/>
          <p:nvPr/>
        </p:nvSpPr>
        <p:spPr>
          <a:xfrm>
            <a:off x="6300216" y="571500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one house = one pixel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6300216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xmark_crim.png" id="432" name="Google Shape;432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45936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6"/>
          <p:cNvSpPr txBox="1"/>
          <p:nvPr/>
        </p:nvSpPr>
        <p:spPr>
          <a:xfrm>
            <a:off x="6519672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SHARP</a:t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7095744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35" name="Google Shape;435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41464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6"/>
          <p:cNvSpPr txBox="1"/>
          <p:nvPr/>
        </p:nvSpPr>
        <p:spPr>
          <a:xfrm>
            <a:off x="7315200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7891271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38" name="Google Shape;438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936992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6"/>
          <p:cNvSpPr txBox="1"/>
          <p:nvPr/>
        </p:nvSpPr>
        <p:spPr>
          <a:xfrm>
            <a:off x="8110727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9025128" y="5449824"/>
            <a:ext cx="2615184" cy="78638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905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9171432" y="5513832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DRISHTI</a:t>
            </a:r>
            <a:endParaRPr/>
          </a:p>
        </p:txBody>
      </p:sp>
      <p:sp>
        <p:nvSpPr>
          <p:cNvPr id="442" name="Google Shape;442;p16"/>
          <p:cNvSpPr txBox="1"/>
          <p:nvPr/>
        </p:nvSpPr>
        <p:spPr>
          <a:xfrm>
            <a:off x="9171432" y="5715000"/>
            <a:ext cx="2322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and it flags its guesses</a:t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9171432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44" name="Google Shape;444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217152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6"/>
          <p:cNvSpPr txBox="1"/>
          <p:nvPr/>
        </p:nvSpPr>
        <p:spPr>
          <a:xfrm>
            <a:off x="9390888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SHARP</a:t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9966959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47" name="Google Shape;447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12680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6"/>
          <p:cNvSpPr txBox="1"/>
          <p:nvPr/>
        </p:nvSpPr>
        <p:spPr>
          <a:xfrm>
            <a:off x="10186415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10762488" y="5925312"/>
            <a:ext cx="731519" cy="219456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_teal.png" id="450" name="Google Shape;450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808208" y="59710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6"/>
          <p:cNvSpPr txBox="1"/>
          <p:nvPr/>
        </p:nvSpPr>
        <p:spPr>
          <a:xfrm>
            <a:off x="10981944" y="5961888"/>
            <a:ext cx="47548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458" name="Google Shape;458;p17"/>
          <p:cNvSpPr txBox="1"/>
          <p:nvPr>
            <p:ph idx="12" type="sldNum"/>
          </p:nvPr>
        </p:nvSpPr>
        <p:spPr>
          <a:xfrm>
            <a:off x="11155680" y="6382512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459" name="Google Shape;459;p1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OUTLIERS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7"/>
          <p:cNvSpPr/>
          <p:nvPr/>
        </p:nvSpPr>
        <p:spPr>
          <a:xfrm>
            <a:off x="411480" y="2395728"/>
            <a:ext cx="1874519" cy="118872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1133856" y="2542032"/>
            <a:ext cx="420624" cy="420624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atellite_w.png" id="463" name="Google Shape;4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6949" y="2605125"/>
            <a:ext cx="294436" cy="29443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7"/>
          <p:cNvSpPr txBox="1"/>
          <p:nvPr/>
        </p:nvSpPr>
        <p:spPr>
          <a:xfrm>
            <a:off x="457200" y="30175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SENTINEL-2</a:t>
            </a: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457200" y="32186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free · every 5 days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but 10 m blurry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2304288" y="2980944"/>
            <a:ext cx="228600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 rot="5400000">
            <a:off x="2514599" y="292150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2670048" y="2395728"/>
            <a:ext cx="1874519" cy="1188720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905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3392424" y="2542032"/>
            <a:ext cx="420624" cy="420624"/>
          </a:xfrm>
          <a:prstGeom prst="ellipse">
            <a:avLst/>
          </a:prstGeom>
          <a:solidFill>
            <a:srgbClr val="0E6E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ip_w.png" id="470" name="Google Shape;4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5517" y="2605125"/>
            <a:ext cx="294436" cy="294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7"/>
          <p:cNvSpPr txBox="1"/>
          <p:nvPr/>
        </p:nvSpPr>
        <p:spPr>
          <a:xfrm>
            <a:off x="2715768" y="301752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DRISHTI</a:t>
            </a:r>
            <a:endParaRPr/>
          </a:p>
        </p:txBody>
      </p:sp>
      <p:sp>
        <p:nvSpPr>
          <p:cNvPr id="472" name="Google Shape;472;p17"/>
          <p:cNvSpPr txBox="1"/>
          <p:nvPr/>
        </p:nvSpPr>
        <p:spPr>
          <a:xfrm>
            <a:off x="2715768" y="32186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hybrid SR, 4x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+ confidence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4562856" y="2980944"/>
            <a:ext cx="228600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 rot="5400000">
            <a:off x="4773168" y="292150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4928616" y="2212848"/>
            <a:ext cx="1737360" cy="1554480"/>
          </a:xfrm>
          <a:prstGeom prst="roundRect">
            <a:avLst>
              <a:gd fmla="val 16667" name="adj"/>
            </a:avLst>
          </a:prstGeom>
          <a:solidFill>
            <a:srgbClr val="FAF0E2"/>
          </a:solidFill>
          <a:ln cap="flat" cmpd="sng" w="12700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4974336" y="23042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WHAT COMES OUT</a:t>
            </a:r>
            <a:endParaRPr/>
          </a:p>
        </p:txBody>
      </p:sp>
      <p:pic>
        <p:nvPicPr>
          <p:cNvPr descr="file_amb.png" id="477" name="Google Shape;4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84064" y="25420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7"/>
          <p:cNvSpPr txBox="1"/>
          <p:nvPr/>
        </p:nvSpPr>
        <p:spPr>
          <a:xfrm>
            <a:off x="5340096" y="2542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2.5 m image</a:t>
            </a:r>
            <a:endParaRPr/>
          </a:p>
        </p:txBody>
      </p:sp>
      <p:pic>
        <p:nvPicPr>
          <p:cNvPr descr="warn_amb.png" id="479" name="Google Shape;47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4064" y="2907791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7"/>
          <p:cNvSpPr txBox="1"/>
          <p:nvPr/>
        </p:nvSpPr>
        <p:spPr>
          <a:xfrm>
            <a:off x="5340096" y="290779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confidence map</a:t>
            </a:r>
            <a:endParaRPr/>
          </a:p>
        </p:txBody>
      </p:sp>
      <p:pic>
        <p:nvPicPr>
          <p:cNvPr descr="check_amb.png" id="481" name="Google Shape;48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84064" y="32735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7"/>
          <p:cNvSpPr txBox="1"/>
          <p:nvPr/>
        </p:nvSpPr>
        <p:spPr>
          <a:xfrm>
            <a:off x="5340096" y="32735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accuracy report</a:t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6867144" y="1243584"/>
            <a:ext cx="18288" cy="4590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6665976" y="2980944"/>
            <a:ext cx="210312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6876288" y="1691640"/>
            <a:ext cx="274320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 rot="5400000">
            <a:off x="7136892" y="1632204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7296912" y="1243584"/>
            <a:ext cx="2834640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ield_navy.png" id="488" name="Google Shape;48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43216" y="14264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7"/>
          <p:cNvSpPr txBox="1"/>
          <p:nvPr/>
        </p:nvSpPr>
        <p:spPr>
          <a:xfrm>
            <a:off x="7790688" y="1371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DEFENCE</a:t>
            </a: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7790688" y="1609344"/>
            <a:ext cx="2249400" cy="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watch a border </a:t>
            </a:r>
            <a:r>
              <a:rPr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for destruction / impact analysis</a:t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10168128" y="1691640"/>
            <a:ext cx="118872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 rot="5400000">
            <a:off x="10268712" y="1632204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10442448" y="1435608"/>
            <a:ext cx="1335024" cy="530352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 txBox="1"/>
          <p:nvPr/>
        </p:nvSpPr>
        <p:spPr>
          <a:xfrm>
            <a:off x="10479024" y="1563624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sovereign, offline</a:t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6876288" y="2953512"/>
            <a:ext cx="274320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 rot="5400000">
            <a:off x="7136892" y="289407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7296912" y="2505456"/>
            <a:ext cx="2834640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eat_teal.png" id="498" name="Google Shape;49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43216" y="26883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7"/>
          <p:cNvSpPr txBox="1"/>
          <p:nvPr/>
        </p:nvSpPr>
        <p:spPr>
          <a:xfrm>
            <a:off x="7790688" y="26334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FARMING</a:t>
            </a:r>
            <a:endParaRPr/>
          </a:p>
        </p:txBody>
      </p:sp>
      <p:sp>
        <p:nvSpPr>
          <p:cNvPr id="500" name="Google Shape;500;p17"/>
          <p:cNvSpPr txBox="1"/>
          <p:nvPr/>
        </p:nvSpPr>
        <p:spPr>
          <a:xfrm>
            <a:off x="7790688" y="2871216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see one farmer's field, not a whole village</a:t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10168128" y="2953512"/>
            <a:ext cx="118872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 rot="5400000">
            <a:off x="10268712" y="2894076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10442448" y="2697480"/>
            <a:ext cx="1335024" cy="530352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 txBox="1"/>
          <p:nvPr/>
        </p:nvSpPr>
        <p:spPr>
          <a:xfrm>
            <a:off x="10479024" y="2825496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fairer crop claims</a:t>
            </a: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6876288" y="4215384"/>
            <a:ext cx="274320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 rot="5400000">
            <a:off x="7136892" y="415594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7296912" y="3767328"/>
            <a:ext cx="2834640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lood_amb.png" id="508" name="Google Shape;50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43216" y="39502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7"/>
          <p:cNvSpPr txBox="1"/>
          <p:nvPr/>
        </p:nvSpPr>
        <p:spPr>
          <a:xfrm>
            <a:off x="7790688" y="38953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DISASTER</a:t>
            </a:r>
            <a:endParaRPr/>
          </a:p>
        </p:txBody>
      </p:sp>
      <p:sp>
        <p:nvSpPr>
          <p:cNvPr id="510" name="Google Shape;510;p17"/>
          <p:cNvSpPr txBox="1"/>
          <p:nvPr/>
        </p:nvSpPr>
        <p:spPr>
          <a:xfrm>
            <a:off x="7790688" y="4133088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which streets flooded, two days later</a:t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10168128" y="4215384"/>
            <a:ext cx="118872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 rot="5400000">
            <a:off x="10268712" y="4155948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10442448" y="3959352"/>
            <a:ext cx="1335024" cy="530352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 txBox="1"/>
          <p:nvPr/>
        </p:nvSpPr>
        <p:spPr>
          <a:xfrm>
            <a:off x="10479024" y="4087368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faster relief</a:t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6876288" y="5477256"/>
            <a:ext cx="274320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 rot="5400000">
            <a:off x="7136892" y="541782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7296912" y="5029200"/>
            <a:ext cx="2834640" cy="9144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9B2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ity_crim.png" id="518" name="Google Shape;51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43216" y="5212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7"/>
          <p:cNvSpPr txBox="1"/>
          <p:nvPr/>
        </p:nvSpPr>
        <p:spPr>
          <a:xfrm>
            <a:off x="7790688" y="51572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CITY PLANNING</a:t>
            </a:r>
            <a:endParaRPr/>
          </a:p>
        </p:txBody>
      </p:sp>
      <p:sp>
        <p:nvSpPr>
          <p:cNvPr id="520" name="Google Shape;520;p17"/>
          <p:cNvSpPr txBox="1"/>
          <p:nvPr/>
        </p:nvSpPr>
        <p:spPr>
          <a:xfrm>
            <a:off x="7790688" y="539496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spot new construction as it goes up</a:t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10168128" y="5477256"/>
            <a:ext cx="118872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 rot="5400000">
            <a:off x="10268712" y="541782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10442448" y="5221224"/>
            <a:ext cx="1335024" cy="530352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 txBox="1"/>
          <p:nvPr/>
        </p:nvSpPr>
        <p:spPr>
          <a:xfrm>
            <a:off x="10479024" y="5349240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enforcement on evidence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531" name="Google Shape;531;p18"/>
          <p:cNvSpPr txBox="1"/>
          <p:nvPr>
            <p:ph idx="12" type="sldNum"/>
          </p:nvPr>
        </p:nvSpPr>
        <p:spPr>
          <a:xfrm>
            <a:off x="11155680" y="6382512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532" name="Google Shape;532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OUTLIERS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8"/>
          <p:cNvSpPr txBox="1"/>
          <p:nvPr/>
        </p:nvSpPr>
        <p:spPr>
          <a:xfrm>
            <a:off x="1691640" y="9692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WHAT ALREADY EXISTS</a:t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411480" y="1188720"/>
            <a:ext cx="3291840" cy="384048"/>
          </a:xfrm>
          <a:prstGeom prst="roundRect">
            <a:avLst>
              <a:gd fmla="val 16667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 txBox="1"/>
          <p:nvPr/>
        </p:nvSpPr>
        <p:spPr>
          <a:xfrm>
            <a:off x="521208" y="1280160"/>
            <a:ext cx="3072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PROVEN SCIENCE</a:t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411480" y="1664208"/>
            <a:ext cx="3291840" cy="60350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 txBox="1"/>
          <p:nvPr/>
        </p:nvSpPr>
        <p:spPr>
          <a:xfrm>
            <a:off x="557784" y="1709928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OpenSR  (ESA)</a:t>
            </a:r>
            <a:endParaRPr/>
          </a:p>
        </p:txBody>
      </p:sp>
      <p:sp>
        <p:nvSpPr>
          <p:cNvPr id="539" name="Google Shape;539;p18"/>
          <p:cNvSpPr txBox="1"/>
          <p:nvPr/>
        </p:nvSpPr>
        <p:spPr>
          <a:xfrm>
            <a:off x="557784" y="1892808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10 m to 2.5 m, Europe-wide</a:t>
            </a:r>
            <a:endParaRPr/>
          </a:p>
        </p:txBody>
      </p:sp>
      <p:sp>
        <p:nvSpPr>
          <p:cNvPr id="540" name="Google Shape;540;p18"/>
          <p:cNvSpPr txBox="1"/>
          <p:nvPr/>
        </p:nvSpPr>
        <p:spPr>
          <a:xfrm>
            <a:off x="557784" y="2075688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opensr.eu</a:t>
            </a:r>
            <a:endParaRPr/>
          </a:p>
        </p:txBody>
      </p:sp>
      <p:sp>
        <p:nvSpPr>
          <p:cNvPr id="541" name="Google Shape;541;p18"/>
          <p:cNvSpPr/>
          <p:nvPr/>
        </p:nvSpPr>
        <p:spPr>
          <a:xfrm>
            <a:off x="411480" y="2322576"/>
            <a:ext cx="3291840" cy="60350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 txBox="1"/>
          <p:nvPr/>
        </p:nvSpPr>
        <p:spPr>
          <a:xfrm>
            <a:off x="557784" y="236829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SEN2SR</a:t>
            </a:r>
            <a:endParaRPr/>
          </a:p>
        </p:txBody>
      </p:sp>
      <p:sp>
        <p:nvSpPr>
          <p:cNvPr id="543" name="Google Shape;543;p18"/>
          <p:cNvSpPr txBox="1"/>
          <p:nvPr/>
        </p:nvSpPr>
        <p:spPr>
          <a:xfrm>
            <a:off x="557784" y="255117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Remote Sensing of Environment, 2025</a:t>
            </a:r>
            <a:endParaRPr/>
          </a:p>
        </p:txBody>
      </p:sp>
      <p:sp>
        <p:nvSpPr>
          <p:cNvPr id="544" name="Google Shape;544;p18"/>
          <p:cNvSpPr txBox="1"/>
          <p:nvPr/>
        </p:nvSpPr>
        <p:spPr>
          <a:xfrm>
            <a:off x="557784" y="2734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sciencedirect.com</a:t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411480" y="2980944"/>
            <a:ext cx="3291840" cy="603504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 txBox="1"/>
          <p:nvPr/>
        </p:nvSpPr>
        <p:spPr>
          <a:xfrm>
            <a:off x="557784" y="3026663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Satlas SR</a:t>
            </a:r>
            <a:endParaRPr/>
          </a:p>
        </p:txBody>
      </p:sp>
      <p:sp>
        <p:nvSpPr>
          <p:cNvPr id="547" name="Google Shape;547;p18"/>
          <p:cNvSpPr txBox="1"/>
          <p:nvPr/>
        </p:nvSpPr>
        <p:spPr>
          <a:xfrm>
            <a:off x="557784" y="320954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Allen Institute for AI</a:t>
            </a:r>
            <a:endParaRPr/>
          </a:p>
        </p:txBody>
      </p:sp>
      <p:sp>
        <p:nvSpPr>
          <p:cNvPr id="548" name="Google Shape;548;p18"/>
          <p:cNvSpPr txBox="1"/>
          <p:nvPr/>
        </p:nvSpPr>
        <p:spPr>
          <a:xfrm>
            <a:off x="557784" y="3392424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github.com/allenai</a:t>
            </a:r>
            <a:endParaRPr/>
          </a:p>
        </p:txBody>
      </p:sp>
      <p:sp>
        <p:nvSpPr>
          <p:cNvPr id="549" name="Google Shape;549;p18"/>
          <p:cNvSpPr/>
          <p:nvPr/>
        </p:nvSpPr>
        <p:spPr>
          <a:xfrm>
            <a:off x="411480" y="3712463"/>
            <a:ext cx="3291840" cy="384048"/>
          </a:xfrm>
          <a:prstGeom prst="roundRect">
            <a:avLst>
              <a:gd fmla="val 16667" name="adj"/>
            </a:avLst>
          </a:prstGeom>
          <a:solidFill>
            <a:srgbClr val="0E6E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 txBox="1"/>
          <p:nvPr/>
        </p:nvSpPr>
        <p:spPr>
          <a:xfrm>
            <a:off x="521208" y="3803903"/>
            <a:ext cx="3072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WE CAN TRAIN ON</a:t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>
            <a:off x="411480" y="4187952"/>
            <a:ext cx="3291840" cy="60350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 txBox="1"/>
          <p:nvPr/>
        </p:nvSpPr>
        <p:spPr>
          <a:xfrm>
            <a:off x="557784" y="4233672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SEN2NAIP v2</a:t>
            </a:r>
            <a:endParaRPr/>
          </a:p>
        </p:txBody>
      </p:sp>
      <p:sp>
        <p:nvSpPr>
          <p:cNvPr id="553" name="Google Shape;553;p18"/>
          <p:cNvSpPr txBox="1"/>
          <p:nvPr/>
        </p:nvSpPr>
        <p:spPr>
          <a:xfrm>
            <a:off x="557784" y="4416552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Nature Scientific Data, 2024</a:t>
            </a:r>
            <a:endParaRPr/>
          </a:p>
        </p:txBody>
      </p:sp>
      <p:sp>
        <p:nvSpPr>
          <p:cNvPr id="554" name="Google Shape;554;p18"/>
          <p:cNvSpPr txBox="1"/>
          <p:nvPr/>
        </p:nvSpPr>
        <p:spPr>
          <a:xfrm>
            <a:off x="557784" y="4599432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huggingface.co</a:t>
            </a: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411480" y="4846320"/>
            <a:ext cx="3291840" cy="60350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 txBox="1"/>
          <p:nvPr/>
        </p:nvSpPr>
        <p:spPr>
          <a:xfrm>
            <a:off x="557784" y="4892040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Bhoonidhi  (ISRO)</a:t>
            </a:r>
            <a:endParaRPr/>
          </a:p>
        </p:txBody>
      </p:sp>
      <p:sp>
        <p:nvSpPr>
          <p:cNvPr id="557" name="Google Shape;557;p18"/>
          <p:cNvSpPr txBox="1"/>
          <p:nvPr/>
        </p:nvSpPr>
        <p:spPr>
          <a:xfrm>
            <a:off x="557784" y="5074920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LISS-IV 5.8 m, Cartosat 2.5 m</a:t>
            </a:r>
            <a:endParaRPr/>
          </a:p>
        </p:txBody>
      </p:sp>
      <p:sp>
        <p:nvSpPr>
          <p:cNvPr id="558" name="Google Shape;558;p18"/>
          <p:cNvSpPr txBox="1"/>
          <p:nvPr/>
        </p:nvSpPr>
        <p:spPr>
          <a:xfrm>
            <a:off x="557784" y="5257800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bhoonidhi.nrsc.gov.in</a:t>
            </a: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411480" y="5504688"/>
            <a:ext cx="3291840" cy="603504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D3D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 txBox="1"/>
          <p:nvPr/>
        </p:nvSpPr>
        <p:spPr>
          <a:xfrm>
            <a:off x="557784" y="5550407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E2938"/>
                </a:solidFill>
                <a:latin typeface="Calibri"/>
                <a:ea typeface="Calibri"/>
                <a:cs typeface="Calibri"/>
                <a:sym typeface="Calibri"/>
              </a:rPr>
              <a:t>Copernicus Data Space</a:t>
            </a:r>
            <a:endParaRPr/>
          </a:p>
        </p:txBody>
      </p:sp>
      <p:sp>
        <p:nvSpPr>
          <p:cNvPr id="561" name="Google Shape;561;p18"/>
          <p:cNvSpPr txBox="1"/>
          <p:nvPr/>
        </p:nvSpPr>
        <p:spPr>
          <a:xfrm>
            <a:off x="557784" y="5733288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free Sentinel-2, every 5 days</a:t>
            </a:r>
            <a:endParaRPr/>
          </a:p>
        </p:txBody>
      </p:sp>
      <p:sp>
        <p:nvSpPr>
          <p:cNvPr id="562" name="Google Shape;562;p18"/>
          <p:cNvSpPr txBox="1"/>
          <p:nvPr/>
        </p:nvSpPr>
        <p:spPr>
          <a:xfrm>
            <a:off x="557784" y="5916168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dataspace.copernicus.eu</a:t>
            </a: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3703320" y="2322576"/>
            <a:ext cx="457200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3703320" y="4837176"/>
            <a:ext cx="457200" cy="18288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4151376" y="2331720"/>
            <a:ext cx="18288" cy="2514600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4160520" y="3602736"/>
            <a:ext cx="557784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 rot="5400000">
            <a:off x="4700016" y="354330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4864608" y="2487168"/>
            <a:ext cx="2523744" cy="2249424"/>
          </a:xfrm>
          <a:prstGeom prst="roundRect">
            <a:avLst>
              <a:gd fmla="val 16667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5815584" y="2724912"/>
            <a:ext cx="621792" cy="621792"/>
          </a:xfrm>
          <a:prstGeom prst="ellipse">
            <a:avLst/>
          </a:prstGeom>
          <a:solidFill>
            <a:srgbClr val="0E6E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ip_w.png" id="570" name="Google Shape;5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8852" y="2818180"/>
            <a:ext cx="435254" cy="43525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8"/>
          <p:cNvSpPr txBox="1"/>
          <p:nvPr/>
        </p:nvSpPr>
        <p:spPr>
          <a:xfrm>
            <a:off x="4956048" y="3474720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DRISHTI</a:t>
            </a:r>
            <a:endParaRPr/>
          </a:p>
        </p:txBody>
      </p:sp>
      <p:sp>
        <p:nvSpPr>
          <p:cNvPr id="572" name="Google Shape;572;p18"/>
          <p:cNvSpPr txBox="1"/>
          <p:nvPr/>
        </p:nvSpPr>
        <p:spPr>
          <a:xfrm>
            <a:off x="4956048" y="3749039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FB6CE"/>
                </a:solidFill>
                <a:latin typeface="Calibri"/>
                <a:ea typeface="Calibri"/>
                <a:cs typeface="Calibri"/>
                <a:sym typeface="Calibri"/>
              </a:rPr>
              <a:t>what nobody has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FB6CE"/>
                </a:solidFill>
                <a:latin typeface="Calibri"/>
                <a:ea typeface="Calibri"/>
                <a:cs typeface="Calibri"/>
                <a:sym typeface="Calibri"/>
              </a:rPr>
              <a:t>built yet</a:t>
            </a:r>
            <a:endParaRPr/>
          </a:p>
        </p:txBody>
      </p:sp>
      <p:sp>
        <p:nvSpPr>
          <p:cNvPr id="573" name="Google Shape;573;p18"/>
          <p:cNvSpPr txBox="1"/>
          <p:nvPr/>
        </p:nvSpPr>
        <p:spPr>
          <a:xfrm>
            <a:off x="4956048" y="4261104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6FC9C0"/>
                </a:solidFill>
                <a:latin typeface="Calibri"/>
                <a:ea typeface="Calibri"/>
                <a:cs typeface="Calibri"/>
                <a:sym typeface="Calibri"/>
              </a:rPr>
              <a:t>India-tuned  ·  hallucination-bounded  ·  operational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7443216" y="3602736"/>
            <a:ext cx="466344" cy="18288"/>
          </a:xfrm>
          <a:prstGeom prst="rect">
            <a:avLst/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 rot="5400000">
            <a:off x="7891272" y="354330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9AA8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 txBox="1"/>
          <p:nvPr/>
        </p:nvSpPr>
        <p:spPr>
          <a:xfrm>
            <a:off x="8092440" y="1097280"/>
            <a:ext cx="3685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WHAT WE ADD, AND HOW WE PROVE IT</a:t>
            </a:r>
            <a:endParaRPr/>
          </a:p>
        </p:txBody>
      </p:sp>
      <p:sp>
        <p:nvSpPr>
          <p:cNvPr id="577" name="Google Shape;577;p18"/>
          <p:cNvSpPr/>
          <p:nvPr/>
        </p:nvSpPr>
        <p:spPr>
          <a:xfrm>
            <a:off x="8092440" y="1316736"/>
            <a:ext cx="3685032" cy="1005840"/>
          </a:xfrm>
          <a:prstGeom prst="roundRect">
            <a:avLst>
              <a:gd fmla="val 16667" name="adj"/>
            </a:avLst>
          </a:prstGeom>
          <a:solidFill>
            <a:srgbClr val="E6F1EF"/>
          </a:solidFill>
          <a:ln cap="flat" cmpd="sng" w="12700">
            <a:solidFill>
              <a:srgbClr val="0E6E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8257031" y="1499616"/>
            <a:ext cx="438912" cy="438912"/>
          </a:xfrm>
          <a:prstGeom prst="ellipse">
            <a:avLst/>
          </a:prstGeom>
          <a:solidFill>
            <a:srgbClr val="0E6E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osshair_w.png" id="579" name="Google Shape;5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2868" y="1565452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8"/>
          <p:cNvSpPr txBox="1"/>
          <p:nvPr/>
        </p:nvSpPr>
        <p:spPr>
          <a:xfrm>
            <a:off x="8814816" y="149961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E6E66"/>
                </a:solidFill>
                <a:latin typeface="Calibri"/>
                <a:ea typeface="Calibri"/>
                <a:cs typeface="Calibri"/>
                <a:sym typeface="Calibri"/>
              </a:rPr>
              <a:t>Trained on Indian ground</a:t>
            </a:r>
            <a:endParaRPr/>
          </a:p>
        </p:txBody>
      </p:sp>
      <p:sp>
        <p:nvSpPr>
          <p:cNvPr id="581" name="Google Shape;581;p18"/>
          <p:cNvSpPr txBox="1"/>
          <p:nvPr/>
        </p:nvSpPr>
        <p:spPr>
          <a:xfrm>
            <a:off x="8814816" y="1737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12 Sentinel-2 scenes, one held out blind</a:t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9921240" y="2340864"/>
            <a:ext cx="18288" cy="64007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/>
          <p:nvPr/>
        </p:nvSpPr>
        <p:spPr>
          <a:xfrm rot="10800000">
            <a:off x="9861804" y="2386584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8092440" y="2523744"/>
            <a:ext cx="3685032" cy="1005840"/>
          </a:xfrm>
          <a:prstGeom prst="roundRect">
            <a:avLst>
              <a:gd fmla="val 16667" name="adj"/>
            </a:avLst>
          </a:prstGeom>
          <a:solidFill>
            <a:srgbClr val="FAF0E2"/>
          </a:solidFill>
          <a:ln cap="flat" cmpd="sng" w="12700">
            <a:solidFill>
              <a:srgbClr val="B562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8257031" y="2706624"/>
            <a:ext cx="438912" cy="438912"/>
          </a:xfrm>
          <a:prstGeom prst="ellipse">
            <a:avLst/>
          </a:prstGeom>
          <a:solidFill>
            <a:srgbClr val="B562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ck_w.png" id="586" name="Google Shape;5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2868" y="2772460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8"/>
          <p:cNvSpPr txBox="1"/>
          <p:nvPr/>
        </p:nvSpPr>
        <p:spPr>
          <a:xfrm>
            <a:off x="8814816" y="270662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620C"/>
                </a:solidFill>
                <a:latin typeface="Calibri"/>
                <a:ea typeface="Calibri"/>
                <a:cs typeface="Calibri"/>
                <a:sym typeface="Calibri"/>
              </a:rPr>
              <a:t>Bounded hallucination</a:t>
            </a:r>
            <a:endParaRPr/>
          </a:p>
        </p:txBody>
      </p:sp>
      <p:sp>
        <p:nvSpPr>
          <p:cNvPr id="588" name="Google Shape;588;p18"/>
          <p:cNvSpPr txBox="1"/>
          <p:nvPr/>
        </p:nvSpPr>
        <p:spPr>
          <a:xfrm>
            <a:off x="8814816" y="294436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output must average back to the real pixel</a:t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9921240" y="3547872"/>
            <a:ext cx="18288" cy="64007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 rot="10800000">
            <a:off x="9861804" y="3593591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8092440" y="3730752"/>
            <a:ext cx="3685032" cy="100584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0B2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8257031" y="3913632"/>
            <a:ext cx="438912" cy="43891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uler_w.png" id="593" name="Google Shape;59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22868" y="3979468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8"/>
          <p:cNvSpPr txBox="1"/>
          <p:nvPr/>
        </p:nvSpPr>
        <p:spPr>
          <a:xfrm>
            <a:off x="8814816" y="39136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Still measurable</a:t>
            </a:r>
            <a:endParaRPr/>
          </a:p>
        </p:txBody>
      </p:sp>
      <p:sp>
        <p:nvSpPr>
          <p:cNvPr id="595" name="Google Shape;595;p18"/>
          <p:cNvSpPr txBox="1"/>
          <p:nvPr/>
        </p:nvSpPr>
        <p:spPr>
          <a:xfrm>
            <a:off x="8814816" y="415137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crop and water indices survive the 4x</a:t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9921240" y="4754880"/>
            <a:ext cx="18288" cy="64007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 rot="10800000">
            <a:off x="9861804" y="4800600"/>
            <a:ext cx="137160" cy="137160"/>
          </a:xfrm>
          <a:prstGeom prst="triangle">
            <a:avLst>
              <a:gd fmla="val 50000" name="adj"/>
            </a:avLst>
          </a:prstGeom>
          <a:solidFill>
            <a:srgbClr val="C9D3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8092440" y="4937760"/>
            <a:ext cx="3685032" cy="1005840"/>
          </a:xfrm>
          <a:prstGeom prst="roundRect">
            <a:avLst>
              <a:gd fmla="val 16667" name="adj"/>
            </a:avLst>
          </a:prstGeom>
          <a:solidFill>
            <a:srgbClr val="FBECEE"/>
          </a:solidFill>
          <a:ln cap="flat" cmpd="sng" w="12700">
            <a:solidFill>
              <a:srgbClr val="9B25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8257031" y="5120640"/>
            <a:ext cx="438912" cy="438912"/>
          </a:xfrm>
          <a:prstGeom prst="ellipse">
            <a:avLst/>
          </a:prstGeom>
          <a:solidFill>
            <a:srgbClr val="9B25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ale_w.png" id="600" name="Google Shape;60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2868" y="5186476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8"/>
          <p:cNvSpPr txBox="1"/>
          <p:nvPr/>
        </p:nvSpPr>
        <p:spPr>
          <a:xfrm>
            <a:off x="8814816" y="51206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9B2538"/>
                </a:solidFill>
                <a:latin typeface="Calibri"/>
                <a:ea typeface="Calibri"/>
                <a:cs typeface="Calibri"/>
                <a:sym typeface="Calibri"/>
              </a:rPr>
              <a:t>Scored, not claimed</a:t>
            </a:r>
            <a:endParaRPr/>
          </a:p>
        </p:txBody>
      </p:sp>
      <p:sp>
        <p:nvSpPr>
          <p:cNvPr id="602" name="Google Shape;602;p18"/>
          <p:cNvSpPr txBox="1"/>
          <p:nvPr/>
        </p:nvSpPr>
        <p:spPr>
          <a:xfrm>
            <a:off x="8814816" y="535838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opensr-test  ·  SAM 2.6°  ·  boundary F1 0.81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